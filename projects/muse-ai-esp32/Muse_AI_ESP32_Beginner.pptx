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原帖：https://www.threads.com/@dennisngcyeung/post/DeEsOzugNxK 。所有功勞歸 Dennis，本簡報只係根據官方文件反向拆解。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來源：Meta Help Center『About Muse subscriptions』；gadgets.muse.ai（Home Link：Free with an active Muse subscription in the United States only）。地區名單來自第三方整理（usecarly.com、ipjudge.org，2026-09-30）。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官方支援板清單：github.com/facebookincubator/muse-gadget-sdk/tree/main/esp32/devices 。StickS3 官網價 US$21.50；StackChan 官網價 US$99（M5Stack 官方網店，2026-10-05 查閱）。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官方：AGENTS.md『Boards with the full UI, by hand』；build log 喺 /tmp/muse_build_cores3.log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官方 README：『Spoken answers. Send each reply's text to a text-to-speech API of your choice and play the audio it returns. On boards with PSRAM, start_tts ... is the spot』。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來源：gadgets.muse.ai/sdk-terms；esp32/README.md『A few things worth knowing』；Meta Help Center。最後一點係一般安全建議。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7899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700"/>
              </a:spcAft>
            </a:pPr>
            <a:r>
              <a:rPr sz="6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鴨寮街 ESP32 + Muse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789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530"/>
              </a:spcAft>
            </a:pPr>
            <a:r>
              <a:rPr sz="3400" b="1">
                <a:solidFill>
                  <a:srgbClr val="FFC89E"/>
                </a:solidFill>
                <a:latin typeface="Microsoft JhengHei"/>
                <a:ea typeface="Microsoft JhengHei"/>
                <a:cs typeface="Microsoft JhengHei"/>
              </a:rPr>
              <a:t>手把手拆解：點樣整一部識聽你講嘢嘅 AI 小機械人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7899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80"/>
              </a:spcAft>
            </a:pPr>
            <a:r>
              <a:rPr sz="24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初學者版 · 一頁一步 · 大家都做得到</a:t>
            </a:r>
          </a:p>
          <a:p>
            <a:pPr algn="l">
              <a:lnSpc>
                <a:spcPct val="115000"/>
              </a:lnSpc>
              <a:spcAft>
                <a:spcPts val="1080"/>
              </a:spcAft>
            </a:pPr>
            <a:r>
              <a:rPr sz="24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參考：Dennis（@dennisngcyeung）Threads 爆紅帖子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76072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10"/>
              </a:spcAft>
            </a:pPr>
            <a:r>
              <a:rPr sz="1800" b="0">
                <a:solidFill>
                  <a:srgbClr val="BBBBC4"/>
                </a:solidFill>
                <a:latin typeface="Microsoft JhengHei"/>
                <a:ea typeface="Microsoft JhengHei"/>
                <a:cs typeface="Microsoft JhengHei"/>
              </a:rPr>
              <a:t>學造工作室 · Maker 補完計劃 ｜ 資料核實日期：2026 年 10 月 5 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5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710"/>
              </a:spcAft>
            </a:pPr>
            <a:r>
              <a:rPr sz="3800" b="1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呢個 Post 做咗啲咩？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2000" b="0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</a:rPr>
              <a:t>Threads @dennisngcyeung（約 19.4 萬次瀏覽）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35508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540"/>
              </a:spcAft>
            </a:pPr>
            <a:r>
              <a:rPr sz="1200" b="0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</a:rPr>
              <a:t>學造工作室 · Maker 補完計劃 ｜ 參考：@dennisngcyeung Threads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3550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540"/>
              </a:spcAft>
            </a:pPr>
            <a:r>
              <a:rPr sz="1200" b="0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67665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80"/>
              </a:spcAft>
            </a:pPr>
            <a:r>
              <a:rPr sz="2400" b="1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24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鴨寮街幾十蚊嘅 ESP32，裝咗 Meta 嘅 Muse AI</a:t>
            </a:r>
          </a:p>
          <a:p>
            <a:pPr algn="l">
              <a:lnSpc>
                <a:spcPct val="115000"/>
              </a:lnSpc>
              <a:spcAft>
                <a:spcPts val="1080"/>
              </a:spcAft>
            </a:pPr>
            <a:r>
              <a:rPr sz="2400" b="1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24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塞入 Robot 仔 StackChan 入面</a:t>
            </a:r>
          </a:p>
          <a:p>
            <a:pPr algn="l">
              <a:lnSpc>
                <a:spcPct val="115000"/>
              </a:lnSpc>
              <a:spcAft>
                <a:spcPts val="1080"/>
              </a:spcAft>
            </a:pPr>
            <a:r>
              <a:rPr sz="2400" b="1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24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耳：識聽廣東話</a:t>
            </a:r>
          </a:p>
          <a:p>
            <a:pPr algn="l">
              <a:lnSpc>
                <a:spcPct val="115000"/>
              </a:lnSpc>
              <a:spcAft>
                <a:spcPts val="1080"/>
              </a:spcAft>
            </a:pPr>
            <a:r>
              <a:rPr sz="2400" b="1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24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腦：Muse（喺雲端）</a:t>
            </a:r>
          </a:p>
          <a:p>
            <a:pPr algn="l">
              <a:lnSpc>
                <a:spcPct val="115000"/>
              </a:lnSpc>
              <a:spcAft>
                <a:spcPts val="1080"/>
              </a:spcAft>
            </a:pPr>
            <a:r>
              <a:rPr sz="2400" b="1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24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口：用 AI 複製咗 Dennis 自己把聲</a:t>
            </a:r>
          </a:p>
          <a:p>
            <a:pPr algn="l">
              <a:lnSpc>
                <a:spcPct val="115000"/>
              </a:lnSpc>
              <a:spcAft>
                <a:spcPts val="1080"/>
              </a:spcAft>
            </a:pPr>
            <a:r>
              <a:rPr sz="2400" b="1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24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仲可以駁 Gmail、Calendar、IG、Threads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828800"/>
            <a:ext cx="393192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8100">
            <a:solidFill>
              <a:srgbClr val="E85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/>
          <a:lstStyle/>
          <a:p>
            <a:pPr algn="ctr"/>
            <a:r>
              <a:rPr sz="2400" b="1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</a:rPr>
              <a:t>原帖連結</a:t>
            </a:r>
          </a:p>
          <a:p>
            <a:pPr algn="ctr">
              <a:spcBef>
                <a:spcPts val="600"/>
              </a:spcBef>
            </a:pPr>
            <a:r>
              <a:rPr sz="18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threads.com/@dennisngcyeung</a:t>
            </a:r>
          </a:p>
          <a:p>
            <a:pPr algn="ctr">
              <a:spcBef>
                <a:spcPts val="600"/>
              </a:spcBef>
            </a:pPr>
            <a:r>
              <a:rPr sz="18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/post/DeEsOzugNxK</a:t>
            </a:r>
          </a:p>
          <a:p>
            <a:pPr algn="ctr">
              <a:spcBef>
                <a:spcPts val="600"/>
              </a:spcBef>
            </a:pPr>
            <a:r>
              <a:rPr sz="18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  <a:p>
            <a:pPr algn="ctr">
              <a:spcBef>
                <a:spcPts val="600"/>
              </a:spcBef>
            </a:pPr>
            <a:r>
              <a:rPr sz="18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作者話：「有啲複雜」</a:t>
            </a:r>
          </a:p>
          <a:p>
            <a:pPr algn="ctr">
              <a:spcBef>
                <a:spcPts val="600"/>
              </a:spcBef>
            </a:pPr>
            <a:r>
              <a:rPr sz="18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暫時未有教學</a:t>
            </a:r>
          </a:p>
          <a:p>
            <a:pPr algn="ctr">
              <a:spcBef>
                <a:spcPts val="600"/>
              </a:spcBef>
            </a:pPr>
            <a:r>
              <a:rPr sz="18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→ 所以我哋幫大家拆解！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5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710"/>
              </a:spcAft>
            </a:pPr>
            <a:r>
              <a:rPr sz="3800" b="1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睇呢份簡報之前：三種標籤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5508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540"/>
              </a:spcAft>
            </a:pPr>
            <a:r>
              <a:rPr sz="1200" b="0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</a:rPr>
              <a:t>學造工作室 · Maker 補完計劃 ｜ 參考：@dennisngcyeung Threads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3550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540"/>
              </a:spcAft>
            </a:pPr>
            <a:r>
              <a:rPr sz="1200" b="0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194560" cy="438912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✅ 官方文件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645920"/>
            <a:ext cx="8046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170"/>
              </a:spcAft>
            </a:pPr>
            <a:r>
              <a:rPr sz="26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喺 Meta 官方網站 gadgets.muse.ai 或 GitHub 官方 repo 寫明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26080"/>
            <a:ext cx="2194560" cy="438912"/>
          </a:xfrm>
          <a:prstGeom prst="roundRect">
            <a:avLst/>
          </a:prstGeom>
          <a:solidFill>
            <a:srgbClr val="7A4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🛠 Dennis 自己改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834640"/>
            <a:ext cx="8046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170"/>
              </a:spcAft>
            </a:pPr>
            <a:r>
              <a:rPr sz="26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Dennis 自己額外加工嘅部分，官方冇現成做法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2194560" cy="438912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⚠️ 未能核實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4023360"/>
            <a:ext cx="8046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170"/>
              </a:spcAft>
            </a:pPr>
            <a:r>
              <a:rPr sz="26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我哋搵唔到官方資料證實，唔好當真，自己再查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303520"/>
            <a:ext cx="11064240" cy="685800"/>
          </a:xfrm>
          <a:prstGeom prst="roundRect">
            <a:avLst/>
          </a:prstGeom>
          <a:solidFill>
            <a:srgbClr val="E85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原則：唔識就話唔識，唔會亂估。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5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710"/>
              </a:spcAft>
            </a:pPr>
            <a:r>
              <a:rPr sz="3800" b="1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⚠️ 開始前必讀：香港暫時未開放 Muse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5508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540"/>
              </a:spcAft>
            </a:pPr>
            <a:r>
              <a:rPr sz="1200" b="0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</a:rPr>
              <a:t>學造工作室 · Maker 補完計劃 ｜ 參考：@dennisngcyeung Threads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3550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540"/>
              </a:spcAft>
            </a:pPr>
            <a:r>
              <a:rPr sz="1200" b="0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25535" y="6291072"/>
            <a:ext cx="2194560" cy="438912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⚠️ 未能核實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39535" y="6291072"/>
            <a:ext cx="2194560" cy="438912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✅ 官方文件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1115568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80"/>
              </a:spcAft>
            </a:pPr>
            <a:r>
              <a:rPr sz="2400" b="1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2400" b="1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Meta 官方：</a:t>
            </a:r>
            <a:r>
              <a:rPr sz="24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Muse 仲係「有限測試」，未喺所有地區提供</a:t>
            </a:r>
          </a:p>
          <a:p>
            <a:pPr algn="l">
              <a:lnSpc>
                <a:spcPct val="115000"/>
              </a:lnSpc>
              <a:spcAft>
                <a:spcPts val="1080"/>
              </a:spcAft>
            </a:pPr>
            <a:r>
              <a:rPr sz="2400" b="1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2400" b="1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訂閱條件：</a:t>
            </a:r>
            <a:r>
              <a:rPr sz="24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人要喺 Muse 已開放嘅國家，18 歲或以上</a:t>
            </a:r>
          </a:p>
          <a:p>
            <a:pPr algn="l">
              <a:lnSpc>
                <a:spcPct val="115000"/>
              </a:lnSpc>
              <a:spcAft>
                <a:spcPts val="1080"/>
              </a:spcAft>
            </a:pPr>
            <a:r>
              <a:rPr sz="2400" b="1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2400" b="1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新聞／第三方：</a:t>
            </a:r>
            <a:r>
              <a:rPr sz="24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截至 9 月底只開放美國、加拿大（Meta 冇公佈完整名單）</a:t>
            </a:r>
          </a:p>
          <a:p>
            <a:pPr algn="l">
              <a:lnSpc>
                <a:spcPct val="115000"/>
              </a:lnSpc>
              <a:spcAft>
                <a:spcPts val="1080"/>
              </a:spcAft>
            </a:pPr>
            <a:r>
              <a:rPr sz="2400" b="1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2400" b="1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Muse Home Link 裝置：</a:t>
            </a:r>
            <a:r>
              <a:rPr sz="24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只限美國訂戶，唔可以改 firmware</a:t>
            </a:r>
          </a:p>
          <a:p>
            <a:pPr algn="l">
              <a:lnSpc>
                <a:spcPct val="115000"/>
              </a:lnSpc>
              <a:spcAft>
                <a:spcPts val="1080"/>
              </a:spcAft>
            </a:pPr>
            <a:r>
              <a:rPr sz="2400" b="1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2400" b="1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Dennis 喺香港點用到？</a:t>
            </a:r>
            <a:r>
              <a:rPr sz="24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帖子冇講，我哋唔知 ⚠️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440680"/>
            <a:ext cx="11064240" cy="6858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建議：請遵守 Meta 條款，唔好用 VPN 等方法繞過地區限制。可以先買板、裝好環境，等正式開放。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5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710"/>
              </a:spcAft>
            </a:pPr>
            <a:r>
              <a:rPr sz="3800" b="1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原理：ESP32 只係「耳」同「口」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5508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540"/>
              </a:spcAft>
            </a:pPr>
            <a:r>
              <a:rPr sz="1200" b="0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</a:rPr>
              <a:t>學造工作室 · Maker 補完計劃 ｜ 參考：@dennisngcyeung Threads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3550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540"/>
              </a:spcAft>
            </a:pPr>
            <a:r>
              <a:rPr sz="1200" b="0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25535" y="6291072"/>
            <a:ext cx="2194560" cy="438912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✅ 官方文件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23774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8100">
            <a:solidFill>
              <a:srgbClr val="1F6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/>
          <a:lstStyle/>
          <a:p>
            <a:pPr algn="ctr"/>
            <a:r>
              <a:rPr sz="2400" b="1">
                <a:solidFill>
                  <a:srgbClr val="1F6FB2"/>
                </a:solidFill>
                <a:latin typeface="Microsoft JhengHei"/>
                <a:ea typeface="Microsoft JhengHei"/>
                <a:cs typeface="Microsoft JhengHei"/>
              </a:rPr>
              <a:t>🎤 咪高峰</a:t>
            </a:r>
          </a:p>
          <a:p>
            <a:pPr algn="ctr">
              <a:spcBef>
                <a:spcPts val="600"/>
              </a:spcBef>
            </a:pPr>
            <a:r>
              <a:rPr sz="18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你講嘢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081528" y="2560320"/>
            <a:ext cx="374904" cy="457200"/>
          </a:xfrm>
          <a:prstGeom prst="rightArrow">
            <a:avLst/>
          </a:prstGeom>
          <a:solidFill>
            <a:srgbClr val="6B6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20440" y="1920240"/>
            <a:ext cx="23774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8100">
            <a:solidFill>
              <a:srgbClr val="E85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/>
          <a:lstStyle/>
          <a:p>
            <a:pPr algn="ctr"/>
            <a:r>
              <a:rPr sz="2400" b="1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</a:rPr>
              <a:t>ESP32 板</a:t>
            </a:r>
          </a:p>
          <a:p>
            <a:pPr algn="ctr">
              <a:spcBef>
                <a:spcPts val="600"/>
              </a:spcBef>
            </a:pPr>
            <a:r>
              <a:rPr sz="18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錄音、上網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961888" y="2560320"/>
            <a:ext cx="374904" cy="457200"/>
          </a:xfrm>
          <a:prstGeom prst="rightArrow">
            <a:avLst/>
          </a:prstGeom>
          <a:solidFill>
            <a:srgbClr val="6B6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920240"/>
            <a:ext cx="23774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8100">
            <a:solidFill>
              <a:srgbClr val="7A4C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/>
          <a:lstStyle/>
          <a:p>
            <a:pPr algn="ctr"/>
            <a:r>
              <a:rPr sz="2400" b="1">
                <a:solidFill>
                  <a:srgbClr val="7A4CC2"/>
                </a:solidFill>
                <a:latin typeface="Microsoft JhengHei"/>
                <a:ea typeface="Microsoft JhengHei"/>
                <a:cs typeface="Microsoft JhengHei"/>
              </a:rPr>
              <a:t>☁️ Muse 雲端</a:t>
            </a:r>
          </a:p>
          <a:p>
            <a:pPr algn="ctr">
              <a:spcBef>
                <a:spcPts val="600"/>
              </a:spcBef>
            </a:pPr>
            <a:r>
              <a:rPr sz="18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大腦：聽寫＋諗答案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842248" y="2560320"/>
            <a:ext cx="374904" cy="457200"/>
          </a:xfrm>
          <a:prstGeom prst="rightArrow">
            <a:avLst/>
          </a:prstGeom>
          <a:solidFill>
            <a:srgbClr val="6B6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281160" y="1920240"/>
            <a:ext cx="23774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81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/>
          <a:lstStyle/>
          <a:p>
            <a:pPr algn="ctr"/>
            <a:r>
              <a:rPr sz="2400" b="1">
                <a:solidFill>
                  <a:srgbClr val="2E8B57"/>
                </a:solidFill>
                <a:latin typeface="Microsoft JhengHei"/>
                <a:ea typeface="Microsoft JhengHei"/>
                <a:cs typeface="Microsoft JhengHei"/>
              </a:rPr>
              <a:t>📺 螢幕</a:t>
            </a:r>
          </a:p>
          <a:p>
            <a:pPr algn="ctr">
              <a:spcBef>
                <a:spcPts val="600"/>
              </a:spcBef>
            </a:pPr>
            <a:r>
              <a:rPr sz="18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顯示文字答案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02336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80"/>
              </a:spcAft>
            </a:pPr>
            <a:r>
              <a:rPr sz="2400" b="1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24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真正「識諗嘢」嘅係雲端 Muse，ESP32 負責錄音、Wi-Fi 同顯示</a:t>
            </a:r>
          </a:p>
          <a:p>
            <a:pPr algn="l">
              <a:lnSpc>
                <a:spcPct val="115000"/>
              </a:lnSpc>
              <a:spcAft>
                <a:spcPts val="1080"/>
              </a:spcAft>
            </a:pPr>
            <a:r>
              <a:rPr sz="2400" b="1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24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所以平價板都得，但一定要有：咪高峰 + 喇叭／螢幕 + Wi-Fi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577840"/>
            <a:ext cx="11064240" cy="685800"/>
          </a:xfrm>
          <a:prstGeom prst="roundRec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官方：按住講嘢 → Muse 聽寫 → 用文字回覆 → 有螢幕嘅板顯示字幕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5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710"/>
              </a:spcAft>
            </a:pPr>
            <a:r>
              <a:rPr sz="3800" b="1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重點：官方版 Muse 唔會「開口講嘢」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5508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540"/>
              </a:spcAft>
            </a:pPr>
            <a:r>
              <a:rPr sz="1200" b="0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</a:rPr>
              <a:t>學造工作室 · Maker 補完計劃 ｜ 參考：@dennisngcyeung Threads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3550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540"/>
              </a:spcAft>
            </a:pPr>
            <a:r>
              <a:rPr sz="1200" b="0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25535" y="6291072"/>
            <a:ext cx="2194560" cy="438912"/>
          </a:xfrm>
          <a:prstGeom prst="roundRect">
            <a:avLst/>
          </a:prstGeom>
          <a:solidFill>
            <a:srgbClr val="7A4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🛠 Dennis 自己改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39535" y="6291072"/>
            <a:ext cx="2194560" cy="438912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✅ 官方文件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11556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170"/>
              </a:spcAft>
            </a:pPr>
            <a:r>
              <a:rPr sz="2600" b="1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2600" b="1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官方 firmware：</a:t>
            </a:r>
            <a:r>
              <a:rPr sz="26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Muse 回覆係「文字」，喺螢幕上以字幕顯示</a:t>
            </a:r>
          </a:p>
          <a:p>
            <a:pPr algn="l">
              <a:lnSpc>
                <a:spcPct val="115000"/>
              </a:lnSpc>
              <a:spcAft>
                <a:spcPts val="1170"/>
              </a:spcAft>
            </a:pPr>
            <a:r>
              <a:rPr sz="2600" b="1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2600" b="1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原始碼寫明：</a:t>
            </a:r>
            <a:r>
              <a:rPr sz="26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Muse doesn't speak gadget replies</a:t>
            </a:r>
          </a:p>
          <a:p>
            <a:pPr algn="l">
              <a:lnSpc>
                <a:spcPct val="115000"/>
              </a:lnSpc>
              <a:spcAft>
                <a:spcPts val="1170"/>
              </a:spcAft>
            </a:pPr>
            <a:r>
              <a:rPr sz="2600" b="1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2600" b="1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想佢講出嚟？</a:t>
            </a:r>
            <a:r>
              <a:rPr sz="26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官方話可以自己駁一個 TTS（文字轉語音）服務</a:t>
            </a:r>
          </a:p>
          <a:p>
            <a:pPr algn="l">
              <a:lnSpc>
                <a:spcPct val="115000"/>
              </a:lnSpc>
              <a:spcAft>
                <a:spcPts val="1170"/>
              </a:spcAft>
            </a:pPr>
            <a:r>
              <a:rPr sz="2600" b="1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2600" b="1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Dennis 把聲：</a:t>
            </a:r>
            <a:r>
              <a:rPr sz="26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就係佢自己加嘅 TTS ＋ 聲音複製 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212080"/>
            <a:ext cx="11064240" cy="68580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新手第一步：先做到「講嘢 → 螢幕出中文答案」，已經好有成功感！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5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710"/>
              </a:spcAft>
            </a:pPr>
            <a:r>
              <a:rPr sz="3800" b="1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「幾十蚊 ESP32」嘅真相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5508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540"/>
              </a:spcAft>
            </a:pPr>
            <a:r>
              <a:rPr sz="1200" b="0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</a:rPr>
              <a:t>學造工作室 · Maker 補完計劃 ｜ 參考：@dennisngcyeung Threads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3550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540"/>
              </a:spcAft>
            </a:pPr>
            <a:r>
              <a:rPr sz="1200" b="0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25535" y="6291072"/>
            <a:ext cx="2194560" cy="438912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✅ 官方文件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530352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8100">
            <a:solidFill>
              <a:srgbClr val="6B6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/>
          <a:lstStyle/>
          <a:p>
            <a:pPr algn="ctr"/>
            <a:r>
              <a:rPr sz="2400" b="1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</a:rPr>
              <a:t>淨板（例如 ESP32-C5 / C6 開發板）</a:t>
            </a:r>
          </a:p>
          <a:p>
            <a:pPr algn="ctr">
              <a:spcBef>
                <a:spcPts val="600"/>
              </a:spcBef>
            </a:pPr>
            <a:r>
              <a:rPr sz="20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官方話係「最快開始」嘅板</a:t>
            </a:r>
          </a:p>
          <a:p>
            <a:pPr algn="ctr">
              <a:spcBef>
                <a:spcPts val="600"/>
              </a:spcBef>
            </a:pPr>
            <a:r>
              <a:rPr sz="20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只有狀態燈 + BOOT 掣</a:t>
            </a:r>
          </a:p>
          <a:p>
            <a:pPr algn="ctr">
              <a:spcBef>
                <a:spcPts val="600"/>
              </a:spcBef>
            </a:pPr>
            <a:r>
              <a:rPr sz="20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Muse 可以控制佢</a:t>
            </a:r>
          </a:p>
          <a:p>
            <a:pPr algn="ctr">
              <a:spcBef>
                <a:spcPts val="600"/>
              </a:spcBef>
            </a:pPr>
            <a:r>
              <a:rPr sz="20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❌ 冇咪、冇喇叭：唔可以同佢傾偈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30352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8100">
            <a:solidFill>
              <a:srgbClr val="E85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/>
          <a:lstStyle/>
          <a:p>
            <a:pPr algn="ctr"/>
            <a:r>
              <a:rPr sz="2400" b="1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</a:rPr>
              <a:t>有咪 + 喇叭 + 螢幕嘅 ESP32</a:t>
            </a:r>
          </a:p>
          <a:p>
            <a:pPr algn="ctr">
              <a:spcBef>
                <a:spcPts val="600"/>
              </a:spcBef>
            </a:pPr>
            <a:r>
              <a:rPr sz="20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例如 M5Stack CoreS3</a:t>
            </a:r>
          </a:p>
          <a:p>
            <a:pPr algn="ctr">
              <a:spcBef>
                <a:spcPts val="600"/>
              </a:spcBef>
            </a:pPr>
            <a:r>
              <a:rPr sz="20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StackChan 入面就係佢</a:t>
            </a:r>
          </a:p>
          <a:p>
            <a:pPr algn="ctr">
              <a:spcBef>
                <a:spcPts val="600"/>
              </a:spcBef>
            </a:pPr>
            <a:r>
              <a:rPr sz="20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按住講嘢、螢幕出答案</a:t>
            </a:r>
          </a:p>
          <a:p>
            <a:pPr algn="ctr">
              <a:spcBef>
                <a:spcPts val="600"/>
              </a:spcBef>
            </a:pPr>
            <a:r>
              <a:rPr sz="20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✅ 呢個先係 Post 入面嘅效果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303520"/>
            <a:ext cx="11064240" cy="685800"/>
          </a:xfrm>
          <a:prstGeom prst="roundRect">
            <a:avLst/>
          </a:prstGeom>
          <a:solidFill>
            <a:srgbClr val="E85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結論：晶片係平，但要「識聽識講」就要揀有咪同喇叭嘅板。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5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710"/>
              </a:spcAft>
            </a:pPr>
            <a:r>
              <a:rPr sz="3800" b="1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揀邊塊板？我哋推介 M5Stack CoreS3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5508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540"/>
              </a:spcAft>
            </a:pPr>
            <a:r>
              <a:rPr sz="1200" b="0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</a:rPr>
              <a:t>學造工作室 · Maker 補完計劃 ｜ 參考：@dennisngcyeung Threads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3550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540"/>
              </a:spcAft>
            </a:pPr>
            <a:r>
              <a:rPr sz="1200" b="0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25535" y="6291072"/>
            <a:ext cx="2194560" cy="438912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✅ 官方文件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110642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011680"/>
                <a:gridCol w="1554480"/>
                <a:gridCol w="4572000"/>
              </a:tblGrid>
              <a:tr h="59436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板</a:t>
                      </a:r>
                    </a:p>
                  </a:txBody>
                  <a:tcPr marL="73152" marR="73152">
                    <a:solidFill>
                      <a:srgbClr val="E85D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有咪＋喇叭？</a:t>
                      </a:r>
                    </a:p>
                  </a:txBody>
                  <a:tcPr marL="73152" marR="73152">
                    <a:solidFill>
                      <a:srgbClr val="E85D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新手難度</a:t>
                      </a:r>
                    </a:p>
                  </a:txBody>
                  <a:tcPr marL="73152" marR="73152">
                    <a:solidFill>
                      <a:srgbClr val="E85D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備註</a:t>
                      </a:r>
                    </a:p>
                  </a:txBody>
                  <a:tcPr marL="73152" marR="73152">
                    <a:solidFill>
                      <a:srgbClr val="E85D2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⭐ M5Stack CoreS3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✅ 有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易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觸控螢幕；StackChan 個腦；USB 直接燒錄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M5Stack StickS3</a:t>
                      </a:r>
                    </a:p>
                  </a:txBody>
                  <a:tcPr marL="73152" marR="73152">
                    <a:solidFill>
                      <a:srgbClr val="FFF0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✅ 有</a:t>
                      </a:r>
                    </a:p>
                  </a:txBody>
                  <a:tcPr marL="73152" marR="73152">
                    <a:solidFill>
                      <a:srgbClr val="FFF0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難</a:t>
                      </a:r>
                    </a:p>
                  </a:txBody>
                  <a:tcPr marL="73152" marR="73152">
                    <a:solidFill>
                      <a:srgbClr val="FFF0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最平（官網 US$21.5），但第一次燒錄要打特別指令</a:t>
                      </a:r>
                    </a:p>
                  </a:txBody>
                  <a:tcPr marL="73152" marR="73152">
                    <a:solidFill>
                      <a:srgbClr val="FFF0E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ESP32-S3-BOX-3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✅ 有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中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官方有 Windows PowerShell 教學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ESP32-C5 DevKitC-1</a:t>
                      </a:r>
                    </a:p>
                  </a:txBody>
                  <a:tcPr marL="73152" marR="73152">
                    <a:solidFill>
                      <a:srgbClr val="FFF0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❌ 冇</a:t>
                      </a:r>
                    </a:p>
                  </a:txBody>
                  <a:tcPr marL="73152" marR="73152">
                    <a:solidFill>
                      <a:srgbClr val="FFF0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易</a:t>
                      </a:r>
                    </a:p>
                  </a:txBody>
                  <a:tcPr marL="73152" marR="73152">
                    <a:solidFill>
                      <a:srgbClr val="FFF0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官方「最快開始」，但只有燈同掣</a:t>
                      </a:r>
                    </a:p>
                  </a:txBody>
                  <a:tcPr marL="73152" marR="73152">
                    <a:solidFill>
                      <a:srgbClr val="FFF0E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StackChan 機械人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✅ 有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中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內置 CoreS3；官網 US$99（2026-10-05）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486400"/>
            <a:ext cx="11064240" cy="685800"/>
          </a:xfrm>
          <a:prstGeom prst="roundRec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揀 CoreS3 原因：有咪有喇叭有螢幕、官方支援完整介面、燒錄唔使拆機，日後可升級做 StackChan。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5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710"/>
              </a:spcAft>
            </a:pPr>
            <a:r>
              <a:rPr sz="3800" b="1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購物清單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5508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540"/>
              </a:spcAft>
            </a:pPr>
            <a:r>
              <a:rPr sz="1200" b="0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</a:rPr>
              <a:t>學造工作室 · Maker 補完計劃 ｜ 參考：@dennisngcyeung Threads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3550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540"/>
              </a:spcAft>
            </a:pPr>
            <a:r>
              <a:rPr sz="1200" b="0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25535" y="6291072"/>
            <a:ext cx="2194560" cy="438912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⚠️ 未能核實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39535" y="6291072"/>
            <a:ext cx="2194560" cy="438912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✅ 官方文件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1115568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80"/>
              </a:spcAft>
            </a:pPr>
            <a:r>
              <a:rPr sz="2400" b="1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2400" b="1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M5Stack CoreS3（或者 StackChan）</a:t>
            </a:r>
            <a:r>
              <a:rPr sz="24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　參考：台灣網店 CoreS3 NT$2,499</a:t>
            </a:r>
          </a:p>
          <a:p>
            <a:pPr algn="l">
              <a:lnSpc>
                <a:spcPct val="115000"/>
              </a:lnSpc>
              <a:spcAft>
                <a:spcPts val="1080"/>
              </a:spcAft>
            </a:pPr>
            <a:r>
              <a:rPr sz="2400" b="1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2400" b="1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USB-C 線（要識傳資料，唔係淨叉電）</a:t>
            </a:r>
          </a:p>
          <a:p>
            <a:pPr algn="l">
              <a:lnSpc>
                <a:spcPct val="115000"/>
              </a:lnSpc>
              <a:spcAft>
                <a:spcPts val="1080"/>
              </a:spcAft>
            </a:pPr>
            <a:r>
              <a:rPr sz="2400" b="1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2400" b="1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一部電腦：Mac 或 Linux</a:t>
            </a:r>
            <a:r>
              <a:rPr sz="24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　（官方指引以呢兩樣為主）</a:t>
            </a:r>
          </a:p>
          <a:p>
            <a:pPr algn="l">
              <a:lnSpc>
                <a:spcPct val="115000"/>
              </a:lnSpc>
              <a:spcAft>
                <a:spcPts val="1080"/>
              </a:spcAft>
            </a:pPr>
            <a:r>
              <a:rPr sz="2400" b="1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2400" b="1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一部手機：裝 Muse app</a:t>
            </a:r>
            <a:r>
              <a:rPr sz="24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　iOS / Android</a:t>
            </a:r>
          </a:p>
          <a:p>
            <a:pPr algn="l">
              <a:lnSpc>
                <a:spcPct val="115000"/>
              </a:lnSpc>
              <a:spcAft>
                <a:spcPts val="1080"/>
              </a:spcAft>
            </a:pPr>
            <a:r>
              <a:rPr sz="2400" b="1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2400" b="1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屋企 Wi-Fi</a:t>
            </a:r>
            <a:r>
              <a:rPr sz="24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　建議用自己信任嘅網絡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440680"/>
            <a:ext cx="11064240" cy="6858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⚠️ 鴨寮街實際價錢我哋搵唔到可靠資料，請直接問檔主；記得講明要「CoreS3」。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5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710"/>
              </a:spcAft>
            </a:pPr>
            <a:r>
              <a:rPr sz="3800" b="1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要準備嘅帳戶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5508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540"/>
              </a:spcAft>
            </a:pPr>
            <a:r>
              <a:rPr sz="1200" b="0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</a:rPr>
              <a:t>學造工作室 · Maker 補完計劃 ｜ 參考：@dennisngcyeung Threads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3550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540"/>
              </a:spcAft>
            </a:pPr>
            <a:r>
              <a:rPr sz="1200" b="0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25535" y="6291072"/>
            <a:ext cx="2194560" cy="438912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✅ 官方文件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347472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8100">
            <a:solidFill>
              <a:srgbClr val="1F6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/>
          <a:lstStyle/>
          <a:p>
            <a:pPr algn="ctr"/>
            <a:r>
              <a:rPr sz="2800" b="1">
                <a:solidFill>
                  <a:srgbClr val="1F6FB2"/>
                </a:solidFill>
                <a:latin typeface="Microsoft JhengHei"/>
                <a:ea typeface="Microsoft JhengHei"/>
                <a:cs typeface="Microsoft JhengHei"/>
              </a:rPr>
              <a:t>① Meta 帳戶</a:t>
            </a:r>
          </a:p>
          <a:p>
            <a:pPr algn="ctr">
              <a:spcBef>
                <a:spcPts val="600"/>
              </a:spcBef>
            </a:pPr>
            <a:r>
              <a:rPr sz="20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用 Facebook / IG</a:t>
            </a:r>
          </a:p>
          <a:p>
            <a:pPr algn="ctr">
              <a:spcBef>
                <a:spcPts val="600"/>
              </a:spcBef>
            </a:pPr>
            <a:r>
              <a:rPr sz="20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或電郵、電話開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645920"/>
            <a:ext cx="347472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8100">
            <a:solidFill>
              <a:srgbClr val="7A4C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/>
          <a:lstStyle/>
          <a:p>
            <a:pPr algn="ctr"/>
            <a:r>
              <a:rPr sz="2800" b="1">
                <a:solidFill>
                  <a:srgbClr val="7A4CC2"/>
                </a:solidFill>
                <a:latin typeface="Microsoft JhengHei"/>
                <a:ea typeface="Microsoft JhengHei"/>
                <a:cs typeface="Microsoft JhengHei"/>
              </a:rPr>
              <a:t>② Muse app</a:t>
            </a:r>
          </a:p>
          <a:p>
            <a:pPr algn="ctr">
              <a:spcBef>
                <a:spcPts val="600"/>
              </a:spcBef>
            </a:pPr>
            <a:r>
              <a:rPr sz="20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手機登入</a:t>
            </a:r>
          </a:p>
          <a:p>
            <a:pPr algn="ctr">
              <a:spcBef>
                <a:spcPts val="600"/>
              </a:spcBef>
            </a:pPr>
            <a:r>
              <a:rPr sz="20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用嚟配對裝置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645920"/>
            <a:ext cx="347472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8100">
            <a:solidFill>
              <a:srgbClr val="E85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/>
          <a:lstStyle/>
          <a:p>
            <a:pPr algn="ctr"/>
            <a:r>
              <a:rPr sz="2800" b="1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</a:rPr>
              <a:t>③ SDK Token</a:t>
            </a:r>
          </a:p>
          <a:p>
            <a:pPr algn="ctr">
              <a:spcBef>
                <a:spcPts val="600"/>
              </a:spcBef>
            </a:pPr>
            <a:r>
              <a:rPr sz="20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gadgets.muse.ai</a:t>
            </a:r>
          </a:p>
          <a:p>
            <a:pPr algn="ctr">
              <a:spcBef>
                <a:spcPts val="600"/>
              </a:spcBef>
            </a:pPr>
            <a:r>
              <a:rPr sz="20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Account → SDK tokens</a:t>
            </a:r>
          </a:p>
          <a:p>
            <a:pPr algn="ctr">
              <a:spcBef>
                <a:spcPts val="600"/>
              </a:spcBef>
            </a:pPr>
            <a:r>
              <a:rPr sz="20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樣子：mgst_…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720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990"/>
              </a:spcAft>
            </a:pPr>
            <a:r>
              <a:rPr sz="22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官方：「每部 gadget 都要有 token 先可以配對」，用之前要讀《Gadget SDK Terms》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532120"/>
            <a:ext cx="11064240" cy="685800"/>
          </a:xfrm>
          <a:prstGeom prst="roundRect">
            <a:avLst/>
          </a:prstGeom>
          <a:solidFill>
            <a:srgbClr val="6B6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Token 會寫入 firmware，當佢係「身份證號碼」：唔好 post 上網；外洩就喺網站 revoke 再整過。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5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710"/>
              </a:spcAft>
            </a:pPr>
            <a:r>
              <a:rPr sz="3800" b="1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Step 1　安裝 ESP-IDF v6.0.1（燒錄工具）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5508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540"/>
              </a:spcAft>
            </a:pPr>
            <a:r>
              <a:rPr sz="1200" b="0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</a:rPr>
              <a:t>學造工作室 · Maker 補完計劃 ｜ 參考：@dennisngcyeung Threads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3550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540"/>
              </a:spcAft>
            </a:pPr>
            <a:r>
              <a:rPr sz="1200" b="0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25535" y="6291072"/>
            <a:ext cx="2194560" cy="438912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✅ 官方文件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990"/>
              </a:spcAft>
            </a:pPr>
            <a:r>
              <a:rPr sz="22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官方只支援 6.0.1 版本。Mac 先裝：brew install cmake ninja dfu-util python3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94560"/>
            <a:ext cx="11064240" cy="2194560"/>
          </a:xfrm>
          <a:prstGeom prst="roundRect">
            <a:avLst>
              <a:gd name="adj" fmla="val 5000"/>
            </a:avLst>
          </a:prstGeom>
          <a:solidFill>
            <a:srgbClr val="1E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l"/>
            <a:r>
              <a:rPr sz="2000" b="0">
                <a:solidFill>
                  <a:srgbClr val="F5F5F5"/>
                </a:solidFill>
                <a:latin typeface="Consolas"/>
                <a:ea typeface="Microsoft JhengHei"/>
                <a:cs typeface="Consolas"/>
              </a:rPr>
              <a:t>git clone -b v6.0.1 --recursive \</a:t>
            </a:r>
          </a:p>
          <a:p>
            <a:pPr algn="l"/>
            <a:r>
              <a:rPr sz="2000" b="0">
                <a:solidFill>
                  <a:srgbClr val="F5F5F5"/>
                </a:solidFill>
                <a:latin typeface="Consolas"/>
                <a:ea typeface="Microsoft JhengHei"/>
                <a:cs typeface="Consolas"/>
              </a:rPr>
              <a:t>  https://github.com/espressif/esp-idf.git ~/esp/esp-idf-v6</a:t>
            </a:r>
          </a:p>
          <a:p>
            <a:pPr algn="l"/>
            <a:r>
              <a:rPr sz="2000" b="0">
                <a:solidFill>
                  <a:srgbClr val="F5F5F5"/>
                </a:solidFill>
                <a:latin typeface="Consolas"/>
                <a:ea typeface="Microsoft JhengHei"/>
                <a:cs typeface="Consolas"/>
              </a:rPr>
              <a:t>~/esp/esp-idf-v6/install.sh esp32c5,esp32s3,esp32c6,esp32</a:t>
            </a:r>
          </a:p>
          <a:p>
            <a:pPr algn="l"/>
            <a:r>
              <a:rPr sz="2000" b="0">
                <a:solidFill>
                  <a:srgbClr val="F5F5F5"/>
                </a:solidFill>
                <a:latin typeface="Consolas"/>
                <a:ea typeface="Microsoft JhengHei"/>
                <a:cs typeface="Consolas"/>
              </a:rPr>
              <a:t>. ~/esp/esp-idf-v6/export.sh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720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990"/>
              </a:spcAft>
            </a:pPr>
            <a:r>
              <a:rPr sz="2200" b="1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22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最後一行：每次開新 Terminal 都要再打一次</a:t>
            </a:r>
          </a:p>
          <a:p>
            <a:pPr algn="l">
              <a:lnSpc>
                <a:spcPct val="115000"/>
              </a:lnSpc>
              <a:spcAft>
                <a:spcPts val="990"/>
              </a:spcAft>
            </a:pPr>
            <a:r>
              <a:rPr sz="2200" b="1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22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Linux 用戶先跟 Espressif 官網裝 prerequisites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5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710"/>
              </a:spcAft>
            </a:pPr>
            <a:r>
              <a:rPr sz="3800" b="1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Step 2　下載 Muse Gadget SDK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5508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540"/>
              </a:spcAft>
            </a:pPr>
            <a:r>
              <a:rPr sz="1200" b="0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</a:rPr>
              <a:t>學造工作室 · Maker 補完計劃 ｜ 參考：@dennisngcyeung Threads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3550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540"/>
              </a:spcAft>
            </a:pPr>
            <a:r>
              <a:rPr sz="1200" b="0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25535" y="6291072"/>
            <a:ext cx="2194560" cy="438912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✅ 官方文件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1E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l"/>
            <a:r>
              <a:rPr sz="2400" b="0">
                <a:solidFill>
                  <a:srgbClr val="F5F5F5"/>
                </a:solidFill>
                <a:latin typeface="Consolas"/>
                <a:ea typeface="Microsoft JhengHei"/>
                <a:cs typeface="Consolas"/>
              </a:rPr>
              <a:t>git clone https://github.com/facebookincubator/muse-gadget-sdk</a:t>
            </a:r>
          </a:p>
          <a:p>
            <a:pPr algn="l"/>
            <a:r>
              <a:rPr sz="2400" b="0">
                <a:solidFill>
                  <a:srgbClr val="F5F5F5"/>
                </a:solidFill>
                <a:latin typeface="Consolas"/>
                <a:ea typeface="Microsoft JhengHei"/>
                <a:cs typeface="Consolas"/>
              </a:rPr>
              <a:t>cd muse-gadget-sdk/esp32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74720"/>
            <a:ext cx="10972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170"/>
              </a:spcAft>
            </a:pPr>
            <a:r>
              <a:rPr sz="2600" b="1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26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開源：Apache 2.0 授權，免費下載</a:t>
            </a:r>
          </a:p>
          <a:p>
            <a:pPr algn="l">
              <a:lnSpc>
                <a:spcPct val="115000"/>
              </a:lnSpc>
              <a:spcAft>
                <a:spcPts val="1170"/>
              </a:spcAft>
            </a:pPr>
            <a:r>
              <a:rPr sz="2600" b="1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26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之後所有指令都喺 esp32 呢個資料夾入面打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5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710"/>
              </a:spcAft>
            </a:pPr>
            <a:r>
              <a:rPr sz="3800" b="1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Step 3　第一次 Build（for CoreS3）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5508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540"/>
              </a:spcAft>
            </a:pPr>
            <a:r>
              <a:rPr sz="1200" b="0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</a:rPr>
              <a:t>學造工作室 · Maker 補完計劃 ｜ 參考：@dennisngcyeung Threads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3550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540"/>
              </a:spcAft>
            </a:pPr>
            <a:r>
              <a:rPr sz="1200" b="0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25535" y="6291072"/>
            <a:ext cx="2194560" cy="438912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✅ 官方文件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11064240" cy="1097280"/>
          </a:xfrm>
          <a:prstGeom prst="roundRect">
            <a:avLst>
              <a:gd name="adj" fmla="val 5000"/>
            </a:avLst>
          </a:prstGeom>
          <a:solidFill>
            <a:srgbClr val="1E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l"/>
            <a:r>
              <a:rPr sz="2800" b="0">
                <a:solidFill>
                  <a:srgbClr val="F5F5F5"/>
                </a:solidFill>
                <a:latin typeface="Consolas"/>
                <a:ea typeface="Microsoft JhengHei"/>
                <a:cs typeface="Consolas"/>
              </a:rPr>
              <a:t>tools/muse/board.sh build cores3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17520"/>
            <a:ext cx="109728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80"/>
              </a:spcAft>
            </a:pPr>
            <a:r>
              <a:rPr sz="2400" b="1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24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要等幾分鐘，第一次會自動下載好多組件</a:t>
            </a:r>
          </a:p>
          <a:p>
            <a:pPr algn="l">
              <a:lnSpc>
                <a:spcPct val="115000"/>
              </a:lnSpc>
              <a:spcAft>
                <a:spcPts val="1080"/>
              </a:spcAft>
            </a:pPr>
            <a:r>
              <a:rPr sz="2400" b="1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24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完成後會出現資料夾：build-muse-m5stack-cores3/</a:t>
            </a:r>
          </a:p>
          <a:p>
            <a:pPr algn="l">
              <a:lnSpc>
                <a:spcPct val="115000"/>
              </a:lnSpc>
              <a:spcAft>
                <a:spcPts val="1080"/>
              </a:spcAft>
            </a:pPr>
            <a:r>
              <a:rPr sz="2400" b="1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24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入面有個設定檔 sdkconfig（下一步要改）</a:t>
            </a:r>
          </a:p>
          <a:p>
            <a:pPr algn="l">
              <a:lnSpc>
                <a:spcPct val="115000"/>
              </a:lnSpc>
              <a:spcAft>
                <a:spcPts val="1080"/>
              </a:spcAft>
            </a:pPr>
            <a:r>
              <a:rPr sz="2400" b="1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24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未填 token 會出警告，正常㗎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5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710"/>
              </a:spcAft>
            </a:pPr>
            <a:r>
              <a:rPr sz="3800" b="1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Step 4　填 Token ＋ 開中文字幕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5508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540"/>
              </a:spcAft>
            </a:pPr>
            <a:r>
              <a:rPr sz="1200" b="0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</a:rPr>
              <a:t>學造工作室 · Maker 補完計劃 ｜ 參考：@dennisngcyeung Threads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3550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540"/>
              </a:spcAft>
            </a:pPr>
            <a:r>
              <a:rPr sz="1200" b="0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25535" y="6291072"/>
            <a:ext cx="2194560" cy="438912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✅ 官方文件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990"/>
              </a:spcAft>
            </a:pPr>
            <a:r>
              <a:rPr sz="22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用文字編輯器打開 build-muse-m5stack-cores3/sdkconfig，改／加呢兩行：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1E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l"/>
            <a:r>
              <a:rPr sz="2400" b="0">
                <a:solidFill>
                  <a:srgbClr val="F5F5F5"/>
                </a:solidFill>
                <a:latin typeface="Consolas"/>
                <a:ea typeface="Microsoft JhengHei"/>
                <a:cs typeface="Consolas"/>
              </a:rPr>
              <a:t>CONFIG_GADGET_SDK_TOKEN="mgst_你自己嘅token"</a:t>
            </a:r>
          </a:p>
          <a:p>
            <a:pPr algn="l"/>
            <a:r>
              <a:rPr sz="2400" b="0">
                <a:solidFill>
                  <a:srgbClr val="F5F5F5"/>
                </a:solidFill>
                <a:latin typeface="Consolas"/>
                <a:ea typeface="Microsoft JhengHei"/>
                <a:cs typeface="Consolas"/>
              </a:rPr>
              <a:t>CONFIG_MUSE_CJK_FONT=y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840480"/>
            <a:ext cx="11064240" cy="822960"/>
          </a:xfrm>
          <a:prstGeom prst="roundRect">
            <a:avLst>
              <a:gd name="adj" fmla="val 5000"/>
            </a:avLst>
          </a:prstGeom>
          <a:solidFill>
            <a:srgbClr val="1E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l"/>
            <a:r>
              <a:rPr sz="2200" b="0">
                <a:solidFill>
                  <a:srgbClr val="F5F5F5"/>
                </a:solidFill>
                <a:latin typeface="Consolas"/>
                <a:ea typeface="Microsoft JhengHei"/>
                <a:cs typeface="Consolas"/>
              </a:rPr>
              <a:t>tools/muse/board.sh build cores3     # 再 build 一次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8463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2000" b="1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20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唔開中文字型：中文會變晒「口口口」（大約用 850 KB 空間）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2000" b="1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20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Token 千祈唔好 commit 上 GitHub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5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710"/>
              </a:spcAft>
            </a:pPr>
            <a:r>
              <a:rPr sz="3800" b="1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Step 5　燒錄（Flash）入塊板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5508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540"/>
              </a:spcAft>
            </a:pPr>
            <a:r>
              <a:rPr sz="1200" b="0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</a:rPr>
              <a:t>學造工作室 · Maker 補完計劃 ｜ 參考：@dennisngcyeung Threads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3550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540"/>
              </a:spcAft>
            </a:pPr>
            <a:r>
              <a:rPr sz="1200" b="0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25535" y="6291072"/>
            <a:ext cx="2194560" cy="438912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✅ 官方文件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80"/>
              </a:spcAft>
            </a:pPr>
            <a:r>
              <a:rPr sz="24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用 USB-C 線駁 CoreS3 去電腦，然後：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11064240" cy="1005840"/>
          </a:xfrm>
          <a:prstGeom prst="roundRect">
            <a:avLst>
              <a:gd name="adj" fmla="val 5000"/>
            </a:avLst>
          </a:prstGeom>
          <a:solidFill>
            <a:srgbClr val="1E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l"/>
            <a:r>
              <a:rPr sz="2800" b="0">
                <a:solidFill>
                  <a:srgbClr val="F5F5F5"/>
                </a:solidFill>
                <a:latin typeface="Consolas"/>
                <a:ea typeface="Microsoft JhengHei"/>
                <a:cs typeface="Consolas"/>
              </a:rPr>
              <a:t>tools/muse/board.sh flash cores3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83280"/>
            <a:ext cx="109728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80"/>
              </a:spcAft>
            </a:pPr>
            <a:r>
              <a:rPr sz="2400" b="1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24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工具會自己搵到塊板個 USB port</a:t>
            </a:r>
          </a:p>
          <a:p>
            <a:pPr algn="l">
              <a:lnSpc>
                <a:spcPct val="115000"/>
              </a:lnSpc>
              <a:spcAft>
                <a:spcPts val="1080"/>
              </a:spcAft>
            </a:pPr>
            <a:r>
              <a:rPr sz="2400" b="1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2400" b="1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連唔到？</a:t>
            </a:r>
            <a:r>
              <a:rPr sz="24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長按底部 RST 3 秒，見到綠燈 = 入咗燒錄模式，再試</a:t>
            </a:r>
          </a:p>
          <a:p>
            <a:pPr algn="l">
              <a:lnSpc>
                <a:spcPct val="115000"/>
              </a:lnSpc>
              <a:spcAft>
                <a:spcPts val="1080"/>
              </a:spcAft>
            </a:pPr>
            <a:r>
              <a:rPr sz="2400" b="1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24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建議燒之前先備份原廠 firmware（見「變機械人」嗰頁）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532120"/>
            <a:ext cx="11064240" cy="6858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⚠️ 官方提醒：改 firmware 有機會整壞塊板、冇保養，自己承擔風險。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5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710"/>
              </a:spcAft>
            </a:pPr>
            <a:r>
              <a:rPr sz="3800" b="1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Step 6　用 Muse app 配對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5508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540"/>
              </a:spcAft>
            </a:pPr>
            <a:r>
              <a:rPr sz="1200" b="0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</a:rPr>
              <a:t>學造工作室 · Maker 補完計劃 ｜ 參考：@dennisngcyeung Threads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3550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540"/>
              </a:spcAft>
            </a:pPr>
            <a:r>
              <a:rPr sz="1200" b="0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25535" y="6291072"/>
            <a:ext cx="2194560" cy="438912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✅ 官方文件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463040"/>
            <a:ext cx="640080" cy="640080"/>
          </a:xfrm>
          <a:prstGeom prst="ellipse">
            <a:avLst/>
          </a:prstGeom>
          <a:solidFill>
            <a:srgbClr val="E85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463040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170"/>
              </a:spcAft>
            </a:pPr>
            <a:r>
              <a:rPr sz="26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打開 Muse app → Settings → Devices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267712"/>
            <a:ext cx="640080" cy="640080"/>
          </a:xfrm>
          <a:prstGeom prst="ellipse">
            <a:avLst/>
          </a:prstGeom>
          <a:solidFill>
            <a:srgbClr val="E85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267712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170"/>
              </a:spcAft>
            </a:pPr>
            <a:r>
              <a:rPr sz="26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開啟 Developer mode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072384"/>
            <a:ext cx="640080" cy="640080"/>
          </a:xfrm>
          <a:prstGeom prst="ellipse">
            <a:avLst/>
          </a:prstGeom>
          <a:solidFill>
            <a:srgbClr val="E85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072384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170"/>
              </a:spcAft>
            </a:pPr>
            <a:r>
              <a:rPr sz="26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Add Device（右上角「＋」）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877056"/>
            <a:ext cx="640080" cy="640080"/>
          </a:xfrm>
          <a:prstGeom prst="ellipse">
            <a:avLst/>
          </a:prstGeom>
          <a:solidFill>
            <a:srgbClr val="E85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877056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170"/>
              </a:spcAft>
            </a:pPr>
            <a:r>
              <a:rPr sz="26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揀 MuseGadget-XXXXXX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681728"/>
            <a:ext cx="640080" cy="640080"/>
          </a:xfrm>
          <a:prstGeom prst="ellipse">
            <a:avLst/>
          </a:prstGeom>
          <a:solidFill>
            <a:srgbClr val="E85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681728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170"/>
              </a:spcAft>
            </a:pPr>
            <a:r>
              <a:rPr sz="26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CoreS3：按左邊 PWR 掣確認係你本人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577840"/>
            <a:ext cx="11064240" cy="685800"/>
          </a:xfrm>
          <a:prstGeom prst="roundRec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官方：每次配對都要撳實體掣，並建立新嘅加密連線。請喺自己信任嘅 Wi-Fi 做。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5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710"/>
              </a:spcAft>
            </a:pPr>
            <a:r>
              <a:rPr sz="3800" b="1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Step 7　第一次同佢傾偈 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5508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540"/>
              </a:spcAft>
            </a:pPr>
            <a:r>
              <a:rPr sz="1200" b="0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</a:rPr>
              <a:t>學造工作室 · Maker 補完計劃 ｜ 參考：@dennisngcyeung Threads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3550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540"/>
              </a:spcAft>
            </a:pPr>
            <a:r>
              <a:rPr sz="1200" b="0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25535" y="6291072"/>
            <a:ext cx="2194560" cy="438912"/>
          </a:xfrm>
          <a:prstGeom prst="roundRec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💡 小貼士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39535" y="6291072"/>
            <a:ext cx="2194560" cy="438912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✅ 官方文件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1115568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170"/>
              </a:spcAft>
            </a:pPr>
            <a:r>
              <a:rPr sz="2600" b="1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2600" b="1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按住</a:t>
            </a:r>
            <a:r>
              <a:rPr sz="26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 左邊 PWR 掣（push-to-talk）→ 講嘢 → 放手</a:t>
            </a:r>
          </a:p>
          <a:p>
            <a:pPr algn="l">
              <a:lnSpc>
                <a:spcPct val="115000"/>
              </a:lnSpc>
              <a:spcAft>
                <a:spcPts val="1170"/>
              </a:spcAft>
            </a:pPr>
            <a:r>
              <a:rPr sz="2600" b="1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26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Muse 會聽寫你講咩，再用文字答你</a:t>
            </a:r>
          </a:p>
          <a:p>
            <a:pPr algn="l">
              <a:lnSpc>
                <a:spcPct val="115000"/>
              </a:lnSpc>
              <a:spcAft>
                <a:spcPts val="1170"/>
              </a:spcAft>
            </a:pPr>
            <a:r>
              <a:rPr sz="2600" b="1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26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答案會喺螢幕以字幕形式出現</a:t>
            </a:r>
          </a:p>
          <a:p>
            <a:pPr algn="l">
              <a:lnSpc>
                <a:spcPct val="115000"/>
              </a:lnSpc>
              <a:spcAft>
                <a:spcPts val="1170"/>
              </a:spcAft>
            </a:pPr>
            <a:r>
              <a:rPr sz="2600" b="1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26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完整對話可以喺 Muse app 睇返</a:t>
            </a:r>
          </a:p>
          <a:p>
            <a:pPr algn="l">
              <a:lnSpc>
                <a:spcPct val="115000"/>
              </a:lnSpc>
              <a:spcAft>
                <a:spcPts val="1170"/>
              </a:spcAft>
            </a:pPr>
            <a:r>
              <a:rPr sz="2600" b="1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2600" b="1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設定：</a:t>
            </a:r>
            <a:r>
              <a:rPr sz="26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喺 Muse 畫面向左掃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394960"/>
            <a:ext cx="11064240" cy="685800"/>
          </a:xfrm>
          <a:prstGeom prst="roundRec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💡 小貼士：答案太長？喺問題後面加一句「用一句回答」。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5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710"/>
              </a:spcAft>
            </a:pPr>
            <a:r>
              <a:rPr sz="3800" b="1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懶人路線：叫 AI 幫你燒（Muse Code）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5508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540"/>
              </a:spcAft>
            </a:pPr>
            <a:r>
              <a:rPr sz="1200" b="0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</a:rPr>
              <a:t>學造工作室 · Maker 補完計劃 ｜ 參考：@dennisngcyeung Threads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3550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540"/>
              </a:spcAft>
            </a:pPr>
            <a:r>
              <a:rPr sz="1200" b="0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25535" y="6291072"/>
            <a:ext cx="2194560" cy="438912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⚠️ 未能核實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39535" y="6291072"/>
            <a:ext cx="2194560" cy="438912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✅ 官方文件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990"/>
              </a:spcAft>
            </a:pPr>
            <a:r>
              <a:rPr sz="22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官方話呢個係「最快」方法：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11680"/>
            <a:ext cx="11064240" cy="1828800"/>
          </a:xfrm>
          <a:prstGeom prst="roundRect">
            <a:avLst>
              <a:gd name="adj" fmla="val 5000"/>
            </a:avLst>
          </a:prstGeom>
          <a:solidFill>
            <a:srgbClr val="1E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l"/>
            <a:r>
              <a:rPr sz="2200" b="0">
                <a:solidFill>
                  <a:srgbClr val="F5F5F5"/>
                </a:solidFill>
                <a:latin typeface="Consolas"/>
                <a:ea typeface="Microsoft JhengHei"/>
                <a:cs typeface="Consolas"/>
              </a:rPr>
              <a:t>curl -fsSL https://dev.meta.ai/install.sh | sh</a:t>
            </a:r>
          </a:p>
          <a:p>
            <a:pPr algn="l"/>
            <a:r>
              <a:rPr sz="2200" b="0">
                <a:solidFill>
                  <a:srgbClr val="F5F5F5"/>
                </a:solidFill>
                <a:latin typeface="Consolas"/>
                <a:ea typeface="Microsoft JhengHei"/>
                <a:cs typeface="Consolas"/>
              </a:rPr>
              <a:t>cd muse-gadget-sdk/esp32</a:t>
            </a:r>
          </a:p>
          <a:p>
            <a:pPr algn="l"/>
            <a:r>
              <a:rPr sz="2200" b="0">
                <a:solidFill>
                  <a:srgbClr val="F5F5F5"/>
                </a:solidFill>
                <a:latin typeface="Consolas"/>
                <a:ea typeface="Microsoft JhengHei"/>
                <a:cs typeface="Consolas"/>
              </a:rPr>
              <a:t>muse --disable-sandbox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2336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990"/>
              </a:spcAft>
            </a:pPr>
            <a:r>
              <a:rPr sz="2200" b="1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22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然後同佢講：「Build this firmware for my M5Stack CoreS3 and flash it.」</a:t>
            </a:r>
          </a:p>
          <a:p>
            <a:pPr algn="l">
              <a:lnSpc>
                <a:spcPct val="115000"/>
              </a:lnSpc>
              <a:spcAft>
                <a:spcPts val="990"/>
              </a:spcAft>
            </a:pPr>
            <a:r>
              <a:rPr sz="2200" b="1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22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每個指令都會問你批准先執行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532120"/>
            <a:ext cx="11064240" cy="6858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⚠️ 要登入；收費同香港可唔可以用，官方 repo 冇講，我哋未核實。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5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710"/>
              </a:spcAft>
            </a:pPr>
            <a:r>
              <a:rPr sz="3800" b="1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進階 A：變成機械人 StackChan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5508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540"/>
              </a:spcAft>
            </a:pPr>
            <a:r>
              <a:rPr sz="1200" b="0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</a:rPr>
              <a:t>學造工作室 · Maker 補完計劃 ｜ 參考：@dennisngcyeung Threads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3550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540"/>
              </a:spcAft>
            </a:pPr>
            <a:r>
              <a:rPr sz="1200" b="0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25535" y="6291072"/>
            <a:ext cx="2194560" cy="438912"/>
          </a:xfrm>
          <a:prstGeom prst="roundRect">
            <a:avLst/>
          </a:prstGeom>
          <a:solidFill>
            <a:srgbClr val="7A4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🛠 Dennis 自己改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39535" y="6291072"/>
            <a:ext cx="2194560" cy="438912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✅ 官方文件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1556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990"/>
              </a:spcAft>
            </a:pPr>
            <a:r>
              <a:rPr sz="2200" b="1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22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StackChan = M5Stack 同社群合作嘅開源桌面機械人，個腦就係 CoreS3</a:t>
            </a:r>
          </a:p>
          <a:p>
            <a:pPr algn="l">
              <a:lnSpc>
                <a:spcPct val="115000"/>
              </a:lnSpc>
              <a:spcAft>
                <a:spcPts val="990"/>
              </a:spcAft>
            </a:pPr>
            <a:r>
              <a:rPr sz="2200" b="1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22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身體有：2 個舵機（轉頭／點頭）、12 粒 RGB LED、電池、紅外線</a:t>
            </a:r>
          </a:p>
          <a:p>
            <a:pPr algn="l">
              <a:lnSpc>
                <a:spcPct val="115000"/>
              </a:lnSpc>
              <a:spcAft>
                <a:spcPts val="990"/>
              </a:spcAft>
            </a:pPr>
            <a:r>
              <a:rPr sz="2200" b="1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22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官方 Muse firmware 支援 CoreS3，但 camera 等功能「未用到」</a:t>
            </a:r>
          </a:p>
          <a:p>
            <a:pPr algn="l">
              <a:lnSpc>
                <a:spcPct val="115000"/>
              </a:lnSpc>
              <a:spcAft>
                <a:spcPts val="990"/>
              </a:spcAft>
            </a:pPr>
            <a:r>
              <a:rPr sz="2200" b="1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22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Muse firmware 冇寫點樣郁舵機、控 LED → 要郁頭郁燈係 Dennis 自己改 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976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2000" b="1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燒之前先備份原廠 firmware（16 MB）：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754880"/>
            <a:ext cx="11064240" cy="685800"/>
          </a:xfrm>
          <a:prstGeom prst="roundRect">
            <a:avLst>
              <a:gd name="adj" fmla="val 5000"/>
            </a:avLst>
          </a:prstGeom>
          <a:solidFill>
            <a:srgbClr val="1E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l"/>
            <a:r>
              <a:rPr sz="1800" b="0">
                <a:solidFill>
                  <a:srgbClr val="F5F5F5"/>
                </a:solidFill>
                <a:latin typeface="Consolas"/>
                <a:ea typeface="Microsoft JhengHei"/>
                <a:cs typeface="Consolas"/>
              </a:rPr>
              <a:t>python -m esptool --chip esp32s3 -p PORT read-flash 0 0x1000000 cores3.bin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577840"/>
            <a:ext cx="11064240" cy="6858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⚠️ 官方冇 StackChan 專用步驟；呢句係參考官方其他 M5Stack 板嘅備份方法。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5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710"/>
              </a:spcAft>
            </a:pPr>
            <a:r>
              <a:rPr sz="3800" b="1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進階 B：廣東話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5508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540"/>
              </a:spcAft>
            </a:pPr>
            <a:r>
              <a:rPr sz="1200" b="0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</a:rPr>
              <a:t>學造工作室 · Maker 補完計劃 ｜ 參考：@dennisngcyeung Threads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3550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540"/>
              </a:spcAft>
            </a:pPr>
            <a:r>
              <a:rPr sz="1200" b="0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25535" y="6291072"/>
            <a:ext cx="2194560" cy="438912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⚠️ 未能核實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39535" y="6291072"/>
            <a:ext cx="2194560" cy="438912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✅ 官方文件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111556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170"/>
              </a:spcAft>
            </a:pPr>
            <a:r>
              <a:rPr sz="2600" b="1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2600" b="1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中文字幕：</a:t>
            </a:r>
            <a:r>
              <a:rPr sz="26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開 CONFIG_MUSE_CJK_FONT 就得（繁簡中文都包括）✅</a:t>
            </a:r>
          </a:p>
          <a:p>
            <a:pPr algn="l">
              <a:lnSpc>
                <a:spcPct val="115000"/>
              </a:lnSpc>
              <a:spcAft>
                <a:spcPts val="1170"/>
              </a:spcAft>
            </a:pPr>
            <a:r>
              <a:rPr sz="2600" b="1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2600" b="1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聽唔聽得明廣東話？</a:t>
            </a:r>
            <a:r>
              <a:rPr sz="26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Dennis 話得，但官方文件冇講 ⚠️</a:t>
            </a:r>
          </a:p>
          <a:p>
            <a:pPr algn="l">
              <a:lnSpc>
                <a:spcPct val="115000"/>
              </a:lnSpc>
              <a:spcAft>
                <a:spcPts val="1170"/>
              </a:spcAft>
            </a:pPr>
            <a:r>
              <a:rPr sz="2600" b="1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2600" b="1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聽寫係邊個做？</a:t>
            </a:r>
            <a:r>
              <a:rPr sz="26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Muse 雲端，唔係 ESP32 ✅</a:t>
            </a:r>
          </a:p>
          <a:p>
            <a:pPr algn="l">
              <a:lnSpc>
                <a:spcPct val="115000"/>
              </a:lnSpc>
              <a:spcAft>
                <a:spcPts val="1170"/>
              </a:spcAft>
            </a:pPr>
            <a:r>
              <a:rPr sz="2600" b="1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2600" b="1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建議：</a:t>
            </a:r>
            <a:r>
              <a:rPr sz="26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自己試吓廣東話同普通話，比較準確度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212080"/>
            <a:ext cx="11064240" cy="68580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教學活動建議：叫學生記錄邊啲字聽錯，討論點解 AI 會聽錯。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5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710"/>
              </a:spcAft>
            </a:pPr>
            <a:r>
              <a:rPr sz="3800" b="1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進階 C：用「自己把聲」答你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5508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540"/>
              </a:spcAft>
            </a:pPr>
            <a:r>
              <a:rPr sz="1200" b="0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</a:rPr>
              <a:t>學造工作室 · Maker 補完計劃 ｜ 參考：@dennisngcyeung Threads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3550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540"/>
              </a:spcAft>
            </a:pPr>
            <a:r>
              <a:rPr sz="1200" b="0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25535" y="6291072"/>
            <a:ext cx="2194560" cy="438912"/>
          </a:xfrm>
          <a:prstGeom prst="roundRect">
            <a:avLst/>
          </a:prstGeom>
          <a:solidFill>
            <a:srgbClr val="7A4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🛠 Dennis 自己改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39535" y="6291072"/>
            <a:ext cx="2194560" cy="438912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✅ 官方文件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1556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990"/>
              </a:spcAft>
            </a:pPr>
            <a:r>
              <a:rPr sz="2200" b="1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2200" b="1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官方提示位置：</a:t>
            </a:r>
            <a:r>
              <a:rPr sz="22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components/muse/muse_chat_session.cpp 嘅 start_tts</a:t>
            </a:r>
          </a:p>
          <a:p>
            <a:pPr algn="l">
              <a:lnSpc>
                <a:spcPct val="115000"/>
              </a:lnSpc>
              <a:spcAft>
                <a:spcPts val="990"/>
              </a:spcAft>
            </a:pPr>
            <a:r>
              <a:rPr sz="2200" b="1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22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做法：將回覆文字送去你揀嘅 TTS API → 收返 MP3 → 板上已有解碼器同喇叭</a:t>
            </a:r>
          </a:p>
          <a:p>
            <a:pPr algn="l">
              <a:lnSpc>
                <a:spcPct val="115000"/>
              </a:lnSpc>
              <a:spcAft>
                <a:spcPts val="990"/>
              </a:spcAft>
            </a:pPr>
            <a:r>
              <a:rPr sz="2200" b="1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2200" b="1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Dennis 用：</a:t>
            </a:r>
            <a:r>
              <a:rPr sz="22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「Gemini 3.8 Flash TTS」複製把聲（佢自己講，未核實 ⚠️）</a:t>
            </a:r>
          </a:p>
          <a:p>
            <a:pPr algn="l">
              <a:lnSpc>
                <a:spcPct val="115000"/>
              </a:lnSpc>
              <a:spcAft>
                <a:spcPts val="990"/>
              </a:spcAft>
            </a:pPr>
            <a:r>
              <a:rPr sz="2200" b="1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22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要識寫 C／C++，屬於高手級改裝 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663440"/>
            <a:ext cx="11064240" cy="6858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⚠️ 道德提醒：只可以複製自己（或者有書面同意）嘅聲音；API key 寫入 firmware 都有外洩風險。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5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710"/>
              </a:spcAft>
            </a:pPr>
            <a:r>
              <a:rPr sz="3800" b="1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進階 D：駁 Gmail、Calendar、IG…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5508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540"/>
              </a:spcAft>
            </a:pPr>
            <a:r>
              <a:rPr sz="1200" b="0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</a:rPr>
              <a:t>學造工作室 · Maker 補完計劃 ｜ 參考：@dennisngcyeung Threads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3550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540"/>
              </a:spcAft>
            </a:pPr>
            <a:r>
              <a:rPr sz="1200" b="0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25535" y="6291072"/>
            <a:ext cx="2194560" cy="438912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⚠️ 未能核實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1556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80"/>
              </a:spcAft>
            </a:pPr>
            <a:r>
              <a:rPr sz="2400" b="1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24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呢啲連接係喺 Muse 本身（app／muse.ai）設定，唔關 ESP32 事</a:t>
            </a:r>
          </a:p>
          <a:p>
            <a:pPr algn="l">
              <a:lnSpc>
                <a:spcPct val="115000"/>
              </a:lnSpc>
              <a:spcAft>
                <a:spcPts val="1080"/>
              </a:spcAft>
            </a:pPr>
            <a:r>
              <a:rPr sz="2400" b="1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24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部機只係「遙控咪」：你講「聽日有咩約？」，Muse 用你嘅帳戶去查</a:t>
            </a:r>
          </a:p>
          <a:p>
            <a:pPr algn="l">
              <a:lnSpc>
                <a:spcPct val="115000"/>
              </a:lnSpc>
              <a:spcAft>
                <a:spcPts val="1080"/>
              </a:spcAft>
            </a:pPr>
            <a:r>
              <a:rPr sz="2400" b="1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24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實際支援邊啲服務，以 Muse app 顯示為準</a:t>
            </a:r>
          </a:p>
          <a:p>
            <a:pPr algn="l">
              <a:lnSpc>
                <a:spcPct val="115000"/>
              </a:lnSpc>
              <a:spcAft>
                <a:spcPts val="1080"/>
              </a:spcAft>
            </a:pPr>
            <a:r>
              <a:rPr sz="2400" b="1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24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Gadget SDK 文件冇列出呢啲連接，我哋未逐個核實 ⚠️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120640"/>
            <a:ext cx="11064240" cy="6858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私隱：一旦駁咗電郵／日曆，任何人撳住個掣都可以問你嘅私人資料！放喺屋企要小心。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5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710"/>
              </a:spcAft>
            </a:pPr>
            <a:r>
              <a:rPr sz="3800" b="1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搞唔掂？常見問題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5508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540"/>
              </a:spcAft>
            </a:pPr>
            <a:r>
              <a:rPr sz="1200" b="0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</a:rPr>
              <a:t>學造工作室 · Maker 補完計劃 ｜ 參考：@dennisngcyeung Threads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3550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540"/>
              </a:spcAft>
            </a:pPr>
            <a:r>
              <a:rPr sz="1200" b="0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25535" y="6291072"/>
            <a:ext cx="2194560" cy="438912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✅ 官方文件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7589520"/>
              </a:tblGrid>
              <a:tr h="50292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問題</a:t>
                      </a:r>
                    </a:p>
                  </a:txBody>
                  <a:tcPr marL="73152" marR="73152">
                    <a:solidFill>
                      <a:srgbClr val="E85D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試吓咁做</a:t>
                      </a:r>
                    </a:p>
                  </a:txBody>
                  <a:tcPr marL="73152" marR="73152">
                    <a:solidFill>
                      <a:srgbClr val="E85D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idf.py not found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再打一次 . ~/esp/esp-idf-v6/export.sh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燒錄連唔到塊板</a:t>
                      </a:r>
                    </a:p>
                  </a:txBody>
                  <a:tcPr marL="73152" marR="73152">
                    <a:solidFill>
                      <a:srgbClr val="FFF0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換條傳資料嘅 USB 線；CoreS3 長按 RST 3 秒見綠燈</a:t>
                      </a:r>
                    </a:p>
                  </a:txBody>
                  <a:tcPr marL="73152" marR="73152">
                    <a:solidFill>
                      <a:srgbClr val="FFF0E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中文變「口口口」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sdkconfig 加 CONFIG_MUSE_CJK_FONT=y 再 build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App 搵唔到裝置</a:t>
                      </a:r>
                    </a:p>
                  </a:txBody>
                  <a:tcPr marL="73152" marR="73152">
                    <a:solidFill>
                      <a:srgbClr val="FFF0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確認開咗 Developer mode；搵 MuseGadget- 開頭</a:t>
                      </a:r>
                    </a:p>
                  </a:txBody>
                  <a:tcPr marL="73152" marR="73152">
                    <a:solidFill>
                      <a:srgbClr val="FFF0E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改咗設定冇效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刪除 build-muse-m5stack-cores3 資料夾再 build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Build 失敗</a:t>
                      </a:r>
                    </a:p>
                  </a:txBody>
                  <a:tcPr marL="73152" marR="73152">
                    <a:solidFill>
                      <a:srgbClr val="FFF0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睇 log：/tmp/muse_build_cores3.log</a:t>
                      </a:r>
                    </a:p>
                  </a:txBody>
                  <a:tcPr marL="73152" marR="73152">
                    <a:solidFill>
                      <a:srgbClr val="FFF0E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Muse 話地區未開放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官方限制，冇得自己修，等開放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532120"/>
            <a:ext cx="11064240" cy="685800"/>
          </a:xfrm>
          <a:prstGeom prst="roundRec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仲有問題：官方 Discord（discord.gg/3bhjCkZdd6）或者 GitHub repo 問。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5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710"/>
              </a:spcAft>
            </a:pPr>
            <a:r>
              <a:rPr sz="3800" b="1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安全 ＆ 私隱（家長必睇）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5508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540"/>
              </a:spcAft>
            </a:pPr>
            <a:r>
              <a:rPr sz="1200" b="0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</a:rPr>
              <a:t>學造工作室 · Maker 補完計劃 ｜ 參考：@dennisngcyeung Threads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3550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540"/>
              </a:spcAft>
            </a:pPr>
            <a:r>
              <a:rPr sz="1200" b="0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</a:rPr>
              <a:t>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25535" y="6291072"/>
            <a:ext cx="2194560" cy="438912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✅ 官方文件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15568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945"/>
              </a:spcAft>
            </a:pPr>
            <a:r>
              <a:rPr sz="2100" b="1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21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官方：SDK「唔係正式支援產品」，隨時會改、壞、或者停用</a:t>
            </a:r>
          </a:p>
          <a:p>
            <a:pPr algn="l">
              <a:lnSpc>
                <a:spcPct val="115000"/>
              </a:lnSpc>
              <a:spcAft>
                <a:spcPts val="945"/>
              </a:spcAft>
            </a:pPr>
            <a:r>
              <a:rPr sz="2100" b="1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21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Token 只限個人、非商業用途；最多 50 部裝置；唔可以賣</a:t>
            </a:r>
          </a:p>
          <a:p>
            <a:pPr algn="l">
              <a:lnSpc>
                <a:spcPct val="115000"/>
              </a:lnSpc>
              <a:spcAft>
                <a:spcPts val="945"/>
              </a:spcAft>
            </a:pPr>
            <a:r>
              <a:rPr sz="2100" b="1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21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建議開 NVS 加密（CONFIG_HOMEHUB_NVS_ENCRYPTION），否則有人攞到塊板可以讀到 Wi-Fi 密碼</a:t>
            </a:r>
          </a:p>
          <a:p>
            <a:pPr algn="l">
              <a:lnSpc>
                <a:spcPct val="115000"/>
              </a:lnSpc>
              <a:spcAft>
                <a:spcPts val="945"/>
              </a:spcAft>
            </a:pPr>
            <a:r>
              <a:rPr sz="2100" b="1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21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配對冇廠商驗證，擋唔到中間人攻擊 → 只喺信任嘅網絡配對</a:t>
            </a:r>
          </a:p>
          <a:p>
            <a:pPr algn="l">
              <a:lnSpc>
                <a:spcPct val="115000"/>
              </a:lnSpc>
              <a:spcAft>
                <a:spcPts val="945"/>
              </a:spcAft>
            </a:pPr>
            <a:r>
              <a:rPr sz="2100" b="1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21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Muse 訂閱要 18 歲或以上：小朋友玩請由家長登入同陪同</a:t>
            </a:r>
          </a:p>
          <a:p>
            <a:pPr algn="l">
              <a:lnSpc>
                <a:spcPct val="115000"/>
              </a:lnSpc>
              <a:spcAft>
                <a:spcPts val="945"/>
              </a:spcAft>
            </a:pPr>
            <a:r>
              <a:rPr sz="2100" b="1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21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AI 答案可能錯，唔好用嚟做安全或者醫療決定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5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710"/>
              </a:spcAft>
            </a:pPr>
            <a:r>
              <a:rPr sz="3800" b="1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連結 ＆ 鳴謝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5508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540"/>
              </a:spcAft>
            </a:pPr>
            <a:r>
              <a:rPr sz="1200" b="0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</a:rPr>
              <a:t>學造工作室 · Maker 補完計劃 ｜ 參考：@dennisngcyeung Threads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3550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540"/>
              </a:spcAft>
            </a:pPr>
            <a:r>
              <a:rPr sz="1200" b="0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1556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2000" b="1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2000" b="1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原帖（Dennis）：</a:t>
            </a:r>
            <a:r>
              <a:rPr sz="20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threads.com/@dennisngcyeung/post/DeEsOzugNxK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2000" b="1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2000" b="1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Muse Gadgets 官網：</a:t>
            </a:r>
            <a:r>
              <a:rPr sz="20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gadgets.muse.ai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2000" b="1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2000" b="1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官方 SDK：</a:t>
            </a:r>
            <a:r>
              <a:rPr sz="20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github.com/facebookincubator/muse-gadget-sdk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2000" b="1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2000" b="1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SDK Token：</a:t>
            </a:r>
            <a:r>
              <a:rPr sz="20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gadgets.muse.ai/settings/sdk-tokens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2000" b="1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2000" b="1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SDK 條款：</a:t>
            </a:r>
            <a:r>
              <a:rPr sz="20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gadgets.muse.ai/sdk-terms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2000" b="1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2000" b="1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Muse 訂閱說明：</a:t>
            </a:r>
            <a:r>
              <a:rPr sz="20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meta.com/help/subscriptions/1021145227643680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2000" b="1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2000" b="1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CoreS3：</a:t>
            </a:r>
            <a:r>
              <a:rPr sz="20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docs.m5stack.com/en/core/CoreS3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2000" b="1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2000" b="1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StackChan：</a:t>
            </a:r>
            <a:r>
              <a:rPr sz="2000" b="0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</a:rPr>
              <a:t>shop.m5stack.com（搜尋 StackChan）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577840"/>
            <a:ext cx="11064240" cy="685800"/>
          </a:xfrm>
          <a:prstGeom prst="roundRect">
            <a:avLst/>
          </a:prstGeom>
          <a:solidFill>
            <a:srgbClr val="E85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鳴謝 Dennis（@dennisngcyeung）分享實測；Meta 開源 SDK。本簡報由學造工作室整理，非 Meta 官方資料。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